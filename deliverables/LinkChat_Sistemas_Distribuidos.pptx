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Presentar LinkChat como un mini Discord academico. Aclarar que el analisis viene del repositorio publico y que lo identificado claramente es el backend.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que el curso pide demostrar coordinacion entre procesos/usuarios conectados. LinkChat resuelve comunicacion en tiempo real usando cliente-servidor, API HTTP y eventos Socket.IO.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Describir LinkChat como un sistema centrado en backend: modelos, rutas REST y eventos Socket.IO. Aclarar que no se detecto frontend en el repositorio revisado.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la arquitectura: cliente consume API REST para recursos y Socket.IO para tiempo real. MongoDB Atlas persiste usuarios, canales y mensajes. El despliegue cloud permite acceso desde internet.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que el backend esta modularizado por dominio: usuarios, servidores, canales, invitaciones, miembros y mensajes. Cada modulo tiene ruta, controlador y modelo Mongoose.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el flujo de evento: un usuario entra al canal, envia mensaje, el servidor guarda en MongoDB y emite receive_message a todos en ese canal. get_users y private_message demuestran interaccion en tiempo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Hablar de persistencia: sin base de datos el chat solo existe en memoria. Con MongoDB se conservan usuarios, canales, invitaciones y mensajes. El modelo Message guarda username, channelId, content, type y timestamps.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diapositiva es para la parte del estudiante 6: despliegue, variables y pruebas. Decir que el backend se prueba con health check, Postman y dos clientes Socket.IO. Para frontend, si no aparece en repo, se documenta como pendiente/externo.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Cerrar conectando con Sistemas Distribuidos: componentes separados, comunicacion HTTP y WebSocket, persistencia cloud y despliegue. Recalcar que la siguiente mejora es integrar el frontend identificado por el equipo.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0182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-320040"/>
            <a:ext cx="2743200" cy="2743200"/>
          </a:xfrm>
          <a:prstGeom prst="ellipse">
            <a:avLst/>
          </a:prstGeom>
          <a:solidFill>
            <a:srgbClr val="263B70"/>
          </a:solidFill>
          <a:ln w="12700">
            <a:solidFill>
              <a:srgbClr val="263B7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95360" y="5212080"/>
            <a:ext cx="1188720" cy="1188720"/>
          </a:xfrm>
          <a:prstGeom prst="ellipse">
            <a:avLst/>
          </a:prstGeom>
          <a:solidFill>
            <a:srgbClr val="1C7C67"/>
          </a:solidFill>
          <a:ln w="12700">
            <a:solidFill>
              <a:srgbClr val="1C7C67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26680" y="1234440"/>
            <a:ext cx="1737360" cy="960120"/>
          </a:xfrm>
          <a:prstGeom prst="line">
            <a:avLst/>
          </a:prstGeom>
          <a:noFill/>
          <a:ln w="27940">
            <a:solidFill>
              <a:srgbClr val="22C1DC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8321040" y="3383280"/>
            <a:ext cx="1280160" cy="-960120"/>
          </a:xfrm>
          <a:prstGeom prst="line">
            <a:avLst/>
          </a:prstGeom>
          <a:noFill/>
          <a:ln w="27940">
            <a:solidFill>
              <a:srgbClr val="7C3AED"/>
            </a:solidFill>
            <a:prstDash val="solid"/>
            <a:headEnd type="none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530352" y="68580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22C1DC"/>
                </a:solidFill>
              </a:rPr>
              <a:t>PROYECTO DE SISTEMAS DISTRIBUIDOS</a:t>
            </a:r>
            <a:endParaRPr lang="en-US" sz="880" dirty="0"/>
          </a:p>
        </p:txBody>
      </p:sp>
      <p:sp>
        <p:nvSpPr>
          <p:cNvPr id="8" name="Text 6"/>
          <p:cNvSpPr/>
          <p:nvPr/>
        </p:nvSpPr>
        <p:spPr>
          <a:xfrm>
            <a:off x="685800" y="1051560"/>
            <a:ext cx="5120640" cy="6583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LinkChat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713232" y="1847088"/>
            <a:ext cx="4846320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DCE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Sistema de chat web en tiempo real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713232" y="2331720"/>
            <a:ext cx="521208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FC0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Backend con Node.js, Express, Socket.IO y MongoDB Atlas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537960" y="914400"/>
            <a:ext cx="4526280" cy="4389120"/>
          </a:xfrm>
          <a:prstGeom prst="roundRect">
            <a:avLst>
              <a:gd name="adj" fmla="val 1667"/>
            </a:avLst>
          </a:prstGeom>
          <a:solidFill>
            <a:srgbClr val="151B2A"/>
          </a:solidFill>
          <a:ln w="12700">
            <a:solidFill>
              <a:srgbClr val="2A344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37960" y="914400"/>
            <a:ext cx="4526280" cy="502920"/>
          </a:xfrm>
          <a:prstGeom prst="roundRect">
            <a:avLst>
              <a:gd name="adj" fmla="val 14545"/>
            </a:avLst>
          </a:prstGeom>
          <a:solidFill>
            <a:srgbClr val="20283A"/>
          </a:solidFill>
          <a:ln w="12700">
            <a:solidFill>
              <a:srgbClr val="20283A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39128" y="1097280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922008" y="1097280"/>
            <a:ext cx="118872" cy="118872"/>
          </a:xfrm>
          <a:prstGeom prst="ellipse">
            <a:avLst/>
          </a:prstGeom>
          <a:solidFill>
            <a:srgbClr val="F4B740"/>
          </a:solidFill>
          <a:ln w="12700">
            <a:solidFill>
              <a:srgbClr val="F4B740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04888" y="1097280"/>
            <a:ext cx="118872" cy="118872"/>
          </a:xfrm>
          <a:prstGeom prst="ellipse">
            <a:avLst/>
          </a:prstGeom>
          <a:solidFill>
            <a:srgbClr val="18B87A"/>
          </a:solidFill>
          <a:ln w="12700">
            <a:solidFill>
              <a:srgbClr val="18B87A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60920" y="1069848"/>
            <a:ext cx="210312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 general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793992" y="1719072"/>
            <a:ext cx="310896" cy="310896"/>
          </a:xfrm>
          <a:prstGeom prst="ellipse">
            <a:avLst/>
          </a:prstGeom>
          <a:solidFill>
            <a:srgbClr val="18B87A"/>
          </a:solidFill>
          <a:ln w="12700">
            <a:solidFill>
              <a:srgbClr val="18B87A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85432" y="1792224"/>
            <a:ext cx="128016" cy="14630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251192" y="1700784"/>
            <a:ext cx="109728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German</a:t>
            </a:r>
            <a:endParaRPr lang="en-US" sz="920" dirty="0"/>
          </a:p>
        </p:txBody>
      </p:sp>
      <p:sp>
        <p:nvSpPr>
          <p:cNvPr id="20" name="Text 18"/>
          <p:cNvSpPr/>
          <p:nvPr/>
        </p:nvSpPr>
        <p:spPr>
          <a:xfrm>
            <a:off x="7251192" y="1920240"/>
            <a:ext cx="3429000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CED8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Listo, backend conectado a MongoDB Atlas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6793992" y="2377440"/>
            <a:ext cx="310896" cy="310896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85432" y="2450592"/>
            <a:ext cx="128016" cy="14630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251192" y="2359152"/>
            <a:ext cx="109728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Ian</a:t>
            </a:r>
            <a:endParaRPr lang="en-US" sz="920" dirty="0"/>
          </a:p>
        </p:txBody>
      </p:sp>
      <p:sp>
        <p:nvSpPr>
          <p:cNvPr id="24" name="Text 22"/>
          <p:cNvSpPr/>
          <p:nvPr/>
        </p:nvSpPr>
        <p:spPr>
          <a:xfrm>
            <a:off x="7251192" y="2578608"/>
            <a:ext cx="3429000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CED8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Recibi el mensaje en tiempo real</a:t>
            </a:r>
            <a:endParaRPr lang="en-US" sz="860" dirty="0"/>
          </a:p>
        </p:txBody>
      </p:sp>
      <p:sp>
        <p:nvSpPr>
          <p:cNvPr id="25" name="Shape 23"/>
          <p:cNvSpPr/>
          <p:nvPr/>
        </p:nvSpPr>
        <p:spPr>
          <a:xfrm>
            <a:off x="6793992" y="3035808"/>
            <a:ext cx="310896" cy="3108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85432" y="3108960"/>
            <a:ext cx="128016" cy="14630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251192" y="3017520"/>
            <a:ext cx="109728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Sistema</a:t>
            </a:r>
            <a:endParaRPr lang="en-US" sz="920" dirty="0"/>
          </a:p>
        </p:txBody>
      </p:sp>
      <p:sp>
        <p:nvSpPr>
          <p:cNvPr id="28" name="Text 26"/>
          <p:cNvSpPr/>
          <p:nvPr/>
        </p:nvSpPr>
        <p:spPr>
          <a:xfrm>
            <a:off x="7251192" y="3236976"/>
            <a:ext cx="3429000" cy="2194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CED8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Ian se ha unido al canal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6858000" y="4709160"/>
            <a:ext cx="3886200" cy="310896"/>
          </a:xfrm>
          <a:prstGeom prst="roundRect">
            <a:avLst>
              <a:gd name="adj" fmla="val 23529"/>
            </a:avLst>
          </a:prstGeom>
          <a:solidFill>
            <a:srgbClr val="0F14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040880" y="4782312"/>
            <a:ext cx="201168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9CA3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Escribir mensaje...</a:t>
            </a:r>
            <a:endParaRPr lang="en-US" sz="830" dirty="0"/>
          </a:p>
        </p:txBody>
      </p:sp>
      <p:sp>
        <p:nvSpPr>
          <p:cNvPr id="31" name="Shape 29"/>
          <p:cNvSpPr/>
          <p:nvPr/>
        </p:nvSpPr>
        <p:spPr>
          <a:xfrm>
            <a:off x="5879592" y="4599432"/>
            <a:ext cx="438912" cy="438912"/>
          </a:xfrm>
          <a:prstGeom prst="ellipse">
            <a:avLst/>
          </a:prstGeom>
          <a:solidFill>
            <a:srgbClr val="22C1DC"/>
          </a:solidFill>
          <a:ln w="12700">
            <a:solidFill>
              <a:srgbClr val="22C1DC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217920" y="4434840"/>
            <a:ext cx="658368" cy="658368"/>
          </a:xfrm>
          <a:prstGeom prst="ellipse">
            <a:avLst/>
          </a:prstGeom>
          <a:solidFill>
            <a:srgbClr val="22C1DC"/>
          </a:solidFill>
          <a:ln w="12700">
            <a:solidFill>
              <a:srgbClr val="22C1DC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675120" y="4617720"/>
            <a:ext cx="438912" cy="438912"/>
          </a:xfrm>
          <a:prstGeom prst="ellipse">
            <a:avLst/>
          </a:prstGeom>
          <a:solidFill>
            <a:srgbClr val="22C1DC"/>
          </a:solidFill>
          <a:ln w="12700">
            <a:solidFill>
              <a:srgbClr val="22C1DC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879592" y="4818888"/>
            <a:ext cx="1234440" cy="347472"/>
          </a:xfrm>
          <a:prstGeom prst="roundRect">
            <a:avLst>
              <a:gd name="adj" fmla="val 21053"/>
            </a:avLst>
          </a:prstGeom>
          <a:solidFill>
            <a:srgbClr val="22C1DC"/>
          </a:solidFill>
          <a:ln w="12700">
            <a:solidFill>
              <a:srgbClr val="22C1DC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0" y="5303520"/>
            <a:ext cx="173736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Cloud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713232" y="6099048"/>
            <a:ext cx="512064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9FB1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Repositorio fuente: github.com/TheSam21byte/linkchat</a:t>
            </a:r>
            <a:endParaRPr lang="en-US" sz="930" dirty="0"/>
          </a:p>
        </p:txBody>
      </p:sp>
      <p:sp>
        <p:nvSpPr>
          <p:cNvPr id="37" name="Text 35"/>
          <p:cNvSpPr/>
          <p:nvPr/>
        </p:nvSpPr>
        <p:spPr>
          <a:xfrm>
            <a:off x="502920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2D6"/>
                </a:solidFill>
              </a:rPr>
              <a:t>LinkChat | Sistemas Distribuidos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11109960" y="6446520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0116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F97316"/>
                </a:solidFill>
              </a:rPr>
              <a:t>CONTEXTO</a:t>
            </a:r>
            <a:endParaRPr lang="en-US" sz="880" dirty="0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problema: comunicacion inmediata y coordinada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234440"/>
            <a:ext cx="2834640" cy="434340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E1E8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0" y="1234440"/>
            <a:ext cx="2834640" cy="4343400"/>
          </a:xfrm>
          <a:prstGeom prst="roundRect">
            <a:avLst>
              <a:gd name="adj" fmla="val 2581"/>
            </a:avLst>
          </a:prstGeom>
          <a:solidFill>
            <a:srgbClr val="101827"/>
          </a:solidFill>
          <a:ln w="12700">
            <a:solidFill>
              <a:srgbClr val="101827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0" y="1234440"/>
            <a:ext cx="438912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2700">
            <a:solidFill>
              <a:srgbClr val="E1E8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536192"/>
            <a:ext cx="91440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Antes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32688" y="2130552"/>
            <a:ext cx="109728" cy="10972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33856" y="2057400"/>
            <a:ext cx="4297680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Mensajes dispersos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932688" y="2651760"/>
            <a:ext cx="109728" cy="10972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33856" y="2578608"/>
            <a:ext cx="4297680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 canales ni historial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932688" y="3172968"/>
            <a:ext cx="109728" cy="10972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33856" y="3099816"/>
            <a:ext cx="4297680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Dificil saber quien esta conectado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069080" y="1536192"/>
            <a:ext cx="201168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Sistema distribuido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709160" y="2240280"/>
            <a:ext cx="530352" cy="530352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03520" y="3090672"/>
            <a:ext cx="530352" cy="530352"/>
          </a:xfrm>
          <a:prstGeom prst="ellipse">
            <a:avLst/>
          </a:prstGeom>
          <a:solidFill>
            <a:srgbClr val="18B87A"/>
          </a:solidFill>
          <a:ln w="12700">
            <a:solidFill>
              <a:srgbClr val="18B87A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87952" y="3456432"/>
            <a:ext cx="530352" cy="5303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974336" y="2523744"/>
            <a:ext cx="384048" cy="530352"/>
          </a:xfrm>
          <a:prstGeom prst="line">
            <a:avLst/>
          </a:prstGeom>
          <a:noFill/>
          <a:ln w="22860">
            <a:solidFill>
              <a:srgbClr val="A7B4CC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038344" y="3401568"/>
            <a:ext cx="-530352" cy="137160"/>
          </a:xfrm>
          <a:prstGeom prst="line">
            <a:avLst/>
          </a:prstGeom>
          <a:noFill/>
          <a:ln w="22860">
            <a:solidFill>
              <a:srgbClr val="A7B4CC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498848" y="3364992"/>
            <a:ext cx="228600" cy="-667512"/>
          </a:xfrm>
          <a:prstGeom prst="line">
            <a:avLst/>
          </a:prstGeom>
          <a:noFill/>
          <a:ln w="22860">
            <a:solidFill>
              <a:srgbClr val="A7B4CC"/>
            </a:solidFill>
            <a:prstDash val="solid"/>
            <a:headEnd type="none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4160520" y="4343400"/>
            <a:ext cx="2011680" cy="6858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1320" dirty="0">
                <a:solidFill>
                  <a:srgbClr val="DCE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Clientes coordinados por un servidor central y eventos en tiempo real.</a:t>
            </a:r>
            <a:endParaRPr lang="en-US" sz="1320" dirty="0"/>
          </a:p>
        </p:txBody>
      </p:sp>
      <p:sp>
        <p:nvSpPr>
          <p:cNvPr id="22" name="Text 20"/>
          <p:cNvSpPr/>
          <p:nvPr/>
        </p:nvSpPr>
        <p:spPr>
          <a:xfrm>
            <a:off x="7223760" y="1536192"/>
            <a:ext cx="128016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F80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Necesidad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7269480" y="2130552"/>
            <a:ext cx="109728" cy="109728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70648" y="2057400"/>
            <a:ext cx="4297680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Canales para ordenar conversaciones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7269480" y="2651760"/>
            <a:ext cx="109728" cy="109728"/>
          </a:xfrm>
          <a:prstGeom prst="ellipse">
            <a:avLst/>
          </a:prstGeom>
          <a:solidFill>
            <a:srgbClr val="18B87A"/>
          </a:solidFill>
          <a:ln w="12700">
            <a:solidFill>
              <a:srgbClr val="18B87A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70648" y="2578608"/>
            <a:ext cx="4297680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Broadcast de mensajes al grupo</a:t>
            </a:r>
            <a:endParaRPr lang="en-US" sz="1450" dirty="0"/>
          </a:p>
        </p:txBody>
      </p:sp>
      <p:sp>
        <p:nvSpPr>
          <p:cNvPr id="27" name="Shape 25"/>
          <p:cNvSpPr/>
          <p:nvPr/>
        </p:nvSpPr>
        <p:spPr>
          <a:xfrm>
            <a:off x="7269480" y="3172968"/>
            <a:ext cx="109728" cy="1097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70648" y="3099816"/>
            <a:ext cx="4297680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Usuarios conectados y privados</a:t>
            </a:r>
            <a:endParaRPr lang="en-US" sz="1450" dirty="0"/>
          </a:p>
        </p:txBody>
      </p:sp>
      <p:sp>
        <p:nvSpPr>
          <p:cNvPr id="29" name="Shape 27"/>
          <p:cNvSpPr/>
          <p:nvPr/>
        </p:nvSpPr>
        <p:spPr>
          <a:xfrm>
            <a:off x="7269480" y="3694176"/>
            <a:ext cx="109728" cy="109728"/>
          </a:xfrm>
          <a:prstGeom prst="ellipse">
            <a:avLst/>
          </a:prstGeom>
          <a:solidFill>
            <a:srgbClr val="F4B740"/>
          </a:solidFill>
          <a:ln w="12700">
            <a:solidFill>
              <a:srgbClr val="F4B740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70648" y="3621024"/>
            <a:ext cx="4297680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Acceso mediante invitaciones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502920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LinkChat | Sistemas Distribuidos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1109960" y="6446520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72033"/>
                </a:solidFill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0116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8B87A"/>
                </a:solidFill>
              </a:rPr>
              <a:t>PRODUCTO</a:t>
            </a:r>
            <a:endParaRPr lang="en-US" sz="880" dirty="0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Que es LinkChat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66928" y="960120"/>
            <a:ext cx="7315200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backend para chat en tiempo real con organizacion por servidores, canales, usuarios e invitaciones.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85800" y="1691640"/>
            <a:ext cx="3246120" cy="1207008"/>
          </a:xfrm>
          <a:prstGeom prst="roundRect">
            <a:avLst>
              <a:gd name="adj" fmla="val 606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05256" y="1929384"/>
            <a:ext cx="384048" cy="384048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35608" y="1929384"/>
            <a:ext cx="164592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Usuarios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435608" y="2258568"/>
            <a:ext cx="2148840" cy="3840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Registro por username unico y estado online/offline.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4389120" y="1691640"/>
            <a:ext cx="3246120" cy="1207008"/>
          </a:xfrm>
          <a:prstGeom prst="roundRect">
            <a:avLst>
              <a:gd name="adj" fmla="val 606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08576" y="1929384"/>
            <a:ext cx="384048" cy="38404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38928" y="1929384"/>
            <a:ext cx="164592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Servidores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5138928" y="2258568"/>
            <a:ext cx="2148840" cy="3840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Espacios de conversacion administrados por owner.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8092440" y="1691640"/>
            <a:ext cx="3246120" cy="1207008"/>
          </a:xfrm>
          <a:prstGeom prst="roundRect">
            <a:avLst>
              <a:gd name="adj" fmla="val 606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11896" y="1929384"/>
            <a:ext cx="384048" cy="384048"/>
          </a:xfrm>
          <a:prstGeom prst="ellipse">
            <a:avLst/>
          </a:prstGeom>
          <a:solidFill>
            <a:srgbClr val="18B87A"/>
          </a:solidFill>
          <a:ln w="12700">
            <a:solidFill>
              <a:srgbClr val="18B87A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42248" y="1929384"/>
            <a:ext cx="164592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Canales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8842248" y="2258568"/>
            <a:ext cx="2148840" cy="3840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Salas donde se agrupan los mensajes.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685800" y="3355848"/>
            <a:ext cx="3246120" cy="1207008"/>
          </a:xfrm>
          <a:prstGeom prst="roundRect">
            <a:avLst>
              <a:gd name="adj" fmla="val 606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5256" y="3593592"/>
            <a:ext cx="384048" cy="38404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435608" y="3593592"/>
            <a:ext cx="164592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Invitaciones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1435608" y="3922776"/>
            <a:ext cx="2148840" cy="3840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Codigos para permitir acceso a usuarios.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4389120" y="3355848"/>
            <a:ext cx="3246120" cy="1207008"/>
          </a:xfrm>
          <a:prstGeom prst="roundRect">
            <a:avLst>
              <a:gd name="adj" fmla="val 606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08576" y="3593592"/>
            <a:ext cx="384048" cy="384048"/>
          </a:xfrm>
          <a:prstGeom prst="ellipse">
            <a:avLst/>
          </a:prstGeom>
          <a:solidFill>
            <a:srgbClr val="22C1DC"/>
          </a:solidFill>
          <a:ln w="12700">
            <a:solidFill>
              <a:srgbClr val="22C1DC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38928" y="3593592"/>
            <a:ext cx="164592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Mensajes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5138928" y="3922776"/>
            <a:ext cx="2148840" cy="3840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Persistencia por canal y tipo de mensaje.</a:t>
            </a:r>
            <a:endParaRPr lang="en-US" sz="1080" dirty="0"/>
          </a:p>
        </p:txBody>
      </p:sp>
      <p:sp>
        <p:nvSpPr>
          <p:cNvPr id="25" name="Shape 23"/>
          <p:cNvSpPr/>
          <p:nvPr/>
        </p:nvSpPr>
        <p:spPr>
          <a:xfrm>
            <a:off x="8092440" y="3355848"/>
            <a:ext cx="3246120" cy="1207008"/>
          </a:xfrm>
          <a:prstGeom prst="roundRect">
            <a:avLst>
              <a:gd name="adj" fmla="val 606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311896" y="3593592"/>
            <a:ext cx="384048" cy="384048"/>
          </a:xfrm>
          <a:prstGeom prst="ellipse">
            <a:avLst/>
          </a:prstGeom>
          <a:solidFill>
            <a:srgbClr val="F4B740"/>
          </a:solidFill>
          <a:ln w="12700">
            <a:solidFill>
              <a:srgbClr val="F4B740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842248" y="3593592"/>
            <a:ext cx="164592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Privados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8842248" y="3922776"/>
            <a:ext cx="2148840" cy="3840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Comunicacion dirigida por socketId.</a:t>
            </a:r>
            <a:endParaRPr lang="en-US" sz="1080" dirty="0"/>
          </a:p>
        </p:txBody>
      </p:sp>
      <p:sp>
        <p:nvSpPr>
          <p:cNvPr id="29" name="Shape 27"/>
          <p:cNvSpPr/>
          <p:nvPr/>
        </p:nvSpPr>
        <p:spPr>
          <a:xfrm>
            <a:off x="685800" y="5303520"/>
            <a:ext cx="10698480" cy="502920"/>
          </a:xfrm>
          <a:prstGeom prst="roundRect">
            <a:avLst>
              <a:gd name="adj" fmla="val 14545"/>
            </a:avLst>
          </a:prstGeom>
          <a:solidFill>
            <a:srgbClr val="101827"/>
          </a:solidFill>
          <a:ln w="12700">
            <a:solidFill>
              <a:srgbClr val="101827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5449824"/>
            <a:ext cx="1024128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Frontend no identificado claramente en el repositorio publico: se considera externo / por integrar / por confirmar.</a:t>
            </a:r>
            <a:endParaRPr lang="en-US" sz="1220" dirty="0"/>
          </a:p>
        </p:txBody>
      </p:sp>
      <p:sp>
        <p:nvSpPr>
          <p:cNvPr id="31" name="Text 29"/>
          <p:cNvSpPr/>
          <p:nvPr/>
        </p:nvSpPr>
        <p:spPr>
          <a:xfrm>
            <a:off x="502920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LinkChat | Sistemas Distribuidos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1109960" y="6446520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72033"/>
                </a:solidFill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22C1DC"/>
                </a:solidFill>
              </a:rPr>
              <a:t>ARQUITECTURA</a:t>
            </a:r>
            <a:endParaRPr lang="en-US" sz="88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Cliente-servidor + tiempo real + persistencia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2560320" y="2514600"/>
            <a:ext cx="320040" cy="0"/>
          </a:xfrm>
          <a:prstGeom prst="line">
            <a:avLst/>
          </a:prstGeom>
          <a:noFill/>
          <a:ln w="25400">
            <a:solidFill>
              <a:srgbClr val="8FA9C8"/>
            </a:solidFill>
            <a:prstDash val="solid"/>
            <a:headEnd type="none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4754880" y="2514600"/>
            <a:ext cx="365760" cy="0"/>
          </a:xfrm>
          <a:prstGeom prst="line">
            <a:avLst/>
          </a:prstGeom>
          <a:noFill/>
          <a:ln w="25400">
            <a:solidFill>
              <a:srgbClr val="8FA9C8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7187184" y="2331720"/>
            <a:ext cx="228600" cy="-411480"/>
          </a:xfrm>
          <a:prstGeom prst="line">
            <a:avLst/>
          </a:prstGeom>
          <a:noFill/>
          <a:ln w="25400">
            <a:solidFill>
              <a:srgbClr val="8FA9C8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7187184" y="2578608"/>
            <a:ext cx="228600" cy="502920"/>
          </a:xfrm>
          <a:prstGeom prst="line">
            <a:avLst/>
          </a:prstGeom>
          <a:noFill/>
          <a:ln w="25400">
            <a:solidFill>
              <a:srgbClr val="8FA9C8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9290304" y="1828800"/>
            <a:ext cx="384048" cy="502920"/>
          </a:xfrm>
          <a:prstGeom prst="line">
            <a:avLst/>
          </a:prstGeom>
          <a:noFill/>
          <a:ln w="25400">
            <a:solidFill>
              <a:srgbClr val="8FA9C8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9290304" y="3200400"/>
            <a:ext cx="384048" cy="-502920"/>
          </a:xfrm>
          <a:prstGeom prst="line">
            <a:avLst/>
          </a:prstGeom>
          <a:noFill/>
          <a:ln w="25400">
            <a:solidFill>
              <a:srgbClr val="8FA9C8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40080" y="2148840"/>
            <a:ext cx="1920240" cy="731520"/>
          </a:xfrm>
          <a:prstGeom prst="roundRect">
            <a:avLst>
              <a:gd name="adj" fmla="val 10000"/>
            </a:avLst>
          </a:prstGeom>
          <a:solidFill>
            <a:srgbClr val="2F80ED"/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313432"/>
            <a:ext cx="1737360" cy="5669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Usuario / navegador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2834640" y="201168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26080" y="2176272"/>
            <a:ext cx="1737360" cy="8412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Frontend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externo / por integrar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120640" y="1874520"/>
            <a:ext cx="2057400" cy="1261872"/>
          </a:xfrm>
          <a:prstGeom prst="roundRect">
            <a:avLst>
              <a:gd name="adj" fmla="val 5797"/>
            </a:avLst>
          </a:prstGeom>
          <a:solidFill>
            <a:srgbClr val="18B87A"/>
          </a:solidFill>
          <a:ln w="12700">
            <a:solidFill>
              <a:srgbClr val="18B87A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12080" y="2039112"/>
            <a:ext cx="1874520" cy="1097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Backend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Node.js + Express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7360920" y="1353312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22C1DC"/>
          </a:solidFill>
          <a:ln w="12700">
            <a:solidFill>
              <a:srgbClr val="22C1DC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52360" y="1517904"/>
            <a:ext cx="1737360" cy="7498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Socket.IO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eventos realtime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7360920" y="278892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F4B740"/>
          </a:solidFill>
          <a:ln w="12700">
            <a:solidFill>
              <a:srgbClr val="F4B740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52360" y="2953512"/>
            <a:ext cx="1737360" cy="7498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MongoDB Atlas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Mongoose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9646920" y="201168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738360" y="2176272"/>
            <a:ext cx="1645920" cy="8412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Cloud deploy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Render/Railway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3657600" y="1719072"/>
            <a:ext cx="100584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7D2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 REST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812280" y="1060704"/>
            <a:ext cx="100584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5F3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WebSocket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784848" y="3886200"/>
            <a:ext cx="109728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EF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persistencia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02920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2D6"/>
                </a:solidFill>
              </a:rPr>
              <a:t>LinkChat | Sistemas Distribuidos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1109960" y="6446520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0116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F97316"/>
                </a:solidFill>
              </a:rPr>
              <a:t>BACKEND</a:t>
            </a:r>
            <a:endParaRPr lang="en-US" sz="880" dirty="0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Componentes implementados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193792" y="2587752"/>
            <a:ext cx="1325880" cy="1325880"/>
          </a:xfrm>
          <a:prstGeom prst="ellipse">
            <a:avLst/>
          </a:prstGeom>
          <a:solidFill>
            <a:srgbClr val="172033"/>
          </a:solidFill>
          <a:ln w="12700">
            <a:solidFill>
              <a:srgbClr val="1720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94960" y="2990088"/>
            <a:ext cx="914400" cy="42062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Express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852160" y="3246120"/>
            <a:ext cx="-4160520" cy="-1508760"/>
          </a:xfrm>
          <a:prstGeom prst="line">
            <a:avLst/>
          </a:prstGeom>
          <a:noFill/>
          <a:ln w="15240">
            <a:solidFill>
              <a:srgbClr val="B8A38D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5852160" y="3246120"/>
            <a:ext cx="-1371600" cy="-1874520"/>
          </a:xfrm>
          <a:prstGeom prst="line">
            <a:avLst/>
          </a:prstGeom>
          <a:noFill/>
          <a:ln w="15240">
            <a:solidFill>
              <a:srgbClr val="B8A38D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5852160" y="3246120"/>
            <a:ext cx="2377440" cy="-1874520"/>
          </a:xfrm>
          <a:prstGeom prst="line">
            <a:avLst/>
          </a:prstGeom>
          <a:noFill/>
          <a:ln w="15240">
            <a:solidFill>
              <a:srgbClr val="B8A38D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5852160" y="3246120"/>
            <a:ext cx="4480560" cy="-137160"/>
          </a:xfrm>
          <a:prstGeom prst="line">
            <a:avLst/>
          </a:prstGeom>
          <a:noFill/>
          <a:ln w="15240">
            <a:solidFill>
              <a:srgbClr val="B8A38D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5852160" y="3246120"/>
            <a:ext cx="2194560" cy="1874520"/>
          </a:xfrm>
          <a:prstGeom prst="line">
            <a:avLst/>
          </a:prstGeom>
          <a:noFill/>
          <a:ln w="15240">
            <a:solidFill>
              <a:srgbClr val="B8A38D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5852160" y="3246120"/>
            <a:ext cx="-2834640" cy="1874520"/>
          </a:xfrm>
          <a:prstGeom prst="line">
            <a:avLst/>
          </a:prstGeom>
          <a:noFill/>
          <a:ln w="15240">
            <a:solidFill>
              <a:srgbClr val="B8A38D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914400" y="1417320"/>
            <a:ext cx="201168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F2D2A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78992" y="1645920"/>
            <a:ext cx="301752" cy="301752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81328" y="1581912"/>
            <a:ext cx="109728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481328" y="1856232"/>
            <a:ext cx="123444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username, status, lastSeen</a:t>
            </a:r>
            <a:endParaRPr lang="en-US" sz="870" dirty="0"/>
          </a:p>
        </p:txBody>
      </p:sp>
      <p:sp>
        <p:nvSpPr>
          <p:cNvPr id="16" name="Shape 14"/>
          <p:cNvSpPr/>
          <p:nvPr/>
        </p:nvSpPr>
        <p:spPr>
          <a:xfrm>
            <a:off x="3703320" y="1051560"/>
            <a:ext cx="201168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F2D2A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867912" y="1280160"/>
            <a:ext cx="301752" cy="3017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70248" y="1216152"/>
            <a:ext cx="109728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Servers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270248" y="1490472"/>
            <a:ext cx="123444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espacios de chat</a:t>
            </a:r>
            <a:endParaRPr lang="en-US" sz="870" dirty="0"/>
          </a:p>
        </p:txBody>
      </p:sp>
      <p:sp>
        <p:nvSpPr>
          <p:cNvPr id="20" name="Shape 18"/>
          <p:cNvSpPr/>
          <p:nvPr/>
        </p:nvSpPr>
        <p:spPr>
          <a:xfrm>
            <a:off x="7452360" y="1051560"/>
            <a:ext cx="201168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F2D2A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616952" y="1280160"/>
            <a:ext cx="301752" cy="301752"/>
          </a:xfrm>
          <a:prstGeom prst="ellipse">
            <a:avLst/>
          </a:prstGeom>
          <a:solidFill>
            <a:srgbClr val="18B87A"/>
          </a:solidFill>
          <a:ln w="12700">
            <a:solidFill>
              <a:srgbClr val="18B87A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19288" y="1216152"/>
            <a:ext cx="109728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Channels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019288" y="1490472"/>
            <a:ext cx="123444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salas por servidor</a:t>
            </a:r>
            <a:endParaRPr lang="en-US" sz="870" dirty="0"/>
          </a:p>
        </p:txBody>
      </p:sp>
      <p:sp>
        <p:nvSpPr>
          <p:cNvPr id="24" name="Shape 22"/>
          <p:cNvSpPr/>
          <p:nvPr/>
        </p:nvSpPr>
        <p:spPr>
          <a:xfrm>
            <a:off x="9555480" y="2788920"/>
            <a:ext cx="201168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F2D2A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720072" y="3017520"/>
            <a:ext cx="301752" cy="30175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122408" y="2953512"/>
            <a:ext cx="109728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Invitations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122408" y="3227832"/>
            <a:ext cx="123444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codigos de acceso</a:t>
            </a:r>
            <a:endParaRPr lang="en-US" sz="870" dirty="0"/>
          </a:p>
        </p:txBody>
      </p:sp>
      <p:sp>
        <p:nvSpPr>
          <p:cNvPr id="28" name="Shape 26"/>
          <p:cNvSpPr/>
          <p:nvPr/>
        </p:nvSpPr>
        <p:spPr>
          <a:xfrm>
            <a:off x="7269480" y="4800600"/>
            <a:ext cx="201168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F2D2A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434072" y="5029200"/>
            <a:ext cx="301752" cy="301752"/>
          </a:xfrm>
          <a:prstGeom prst="ellipse">
            <a:avLst/>
          </a:prstGeom>
          <a:solidFill>
            <a:srgbClr val="22C1DC"/>
          </a:solidFill>
          <a:ln w="12700">
            <a:solidFill>
              <a:srgbClr val="22C1DC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836408" y="4965192"/>
            <a:ext cx="109728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Members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836408" y="5239512"/>
            <a:ext cx="123444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relacion usuario-servidor</a:t>
            </a:r>
            <a:endParaRPr lang="en-US" sz="870" dirty="0"/>
          </a:p>
        </p:txBody>
      </p:sp>
      <p:sp>
        <p:nvSpPr>
          <p:cNvPr id="32" name="Shape 30"/>
          <p:cNvSpPr/>
          <p:nvPr/>
        </p:nvSpPr>
        <p:spPr>
          <a:xfrm>
            <a:off x="2240280" y="4800600"/>
            <a:ext cx="201168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F2D2A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404872" y="5029200"/>
            <a:ext cx="301752" cy="301752"/>
          </a:xfrm>
          <a:prstGeom prst="ellipse">
            <a:avLst/>
          </a:prstGeom>
          <a:solidFill>
            <a:srgbClr val="F4B740"/>
          </a:solidFill>
          <a:ln w="12700">
            <a:solidFill>
              <a:srgbClr val="F4B740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807208" y="4965192"/>
            <a:ext cx="109728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Messages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2807208" y="5239512"/>
            <a:ext cx="123444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contenido por canal</a:t>
            </a:r>
            <a:endParaRPr lang="en-US" sz="870" dirty="0"/>
          </a:p>
        </p:txBody>
      </p:sp>
      <p:sp>
        <p:nvSpPr>
          <p:cNvPr id="36" name="Text 34"/>
          <p:cNvSpPr/>
          <p:nvPr/>
        </p:nvSpPr>
        <p:spPr>
          <a:xfrm>
            <a:off x="502920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LinkChat | Sistemas Distribuidos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1109960" y="6446520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72033"/>
                </a:solidFill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0116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7C3AED"/>
                </a:solidFill>
              </a:rPr>
              <a:t>SOCKET.IO</a:t>
            </a:r>
            <a:endParaRPr lang="en-US" sz="880" dirty="0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Comunicacion en tiempo real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0" y="5532120"/>
            <a:ext cx="12188952" cy="1325880"/>
          </a:xfrm>
          <a:prstGeom prst="roundRect">
            <a:avLst>
              <a:gd name="adj" fmla="val 5517"/>
            </a:avLst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965960" y="2788920"/>
            <a:ext cx="100584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4297680" y="2788920"/>
            <a:ext cx="100584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6629400" y="2788920"/>
            <a:ext cx="100584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8961120" y="2788920"/>
            <a:ext cx="100584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731520" y="2240280"/>
            <a:ext cx="1325880" cy="1024128"/>
          </a:xfrm>
          <a:prstGeom prst="roundRect">
            <a:avLst>
              <a:gd name="adj" fmla="val 7143"/>
            </a:avLst>
          </a:prstGeom>
          <a:solidFill>
            <a:srgbClr val="2F80ED"/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2542032"/>
            <a:ext cx="1170432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Usuario A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063240" y="2240280"/>
            <a:ext cx="1325880" cy="1024128"/>
          </a:xfrm>
          <a:prstGeom prst="roundRect">
            <a:avLst>
              <a:gd name="adj" fmla="val 7143"/>
            </a:avLst>
          </a:prstGeom>
          <a:solidFill>
            <a:srgbClr val="18B87A"/>
          </a:solidFill>
          <a:ln w="12700">
            <a:solidFill>
              <a:srgbClr val="18B87A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36392" y="2542032"/>
            <a:ext cx="1170432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join_channel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394960" y="2240280"/>
            <a:ext cx="1325880" cy="1024128"/>
          </a:xfrm>
          <a:prstGeom prst="roundRect">
            <a:avLst>
              <a:gd name="adj" fmla="val 7143"/>
            </a:avLst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68112" y="2542032"/>
            <a:ext cx="1170432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Socket.IO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726680" y="2240280"/>
            <a:ext cx="1325880" cy="1024128"/>
          </a:xfrm>
          <a:prstGeom prst="roundRect">
            <a:avLst>
              <a:gd name="adj" fmla="val 7143"/>
            </a:avLst>
          </a:prstGeom>
          <a:solidFill>
            <a:srgbClr val="22C1DC"/>
          </a:solidFill>
          <a:ln w="12700">
            <a:solidFill>
              <a:srgbClr val="22C1DC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99832" y="2542032"/>
            <a:ext cx="1170432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Canal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10012680" y="2240280"/>
            <a:ext cx="1325880" cy="1024128"/>
          </a:xfrm>
          <a:prstGeom prst="roundRect">
            <a:avLst>
              <a:gd name="adj" fmla="val 7143"/>
            </a:avLst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85832" y="2542032"/>
            <a:ext cx="1170432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Usuario B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77240" y="4315968"/>
            <a:ext cx="1874520" cy="621792"/>
          </a:xfrm>
          <a:prstGeom prst="roundRect">
            <a:avLst>
              <a:gd name="adj" fmla="val 1176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86968" y="4434840"/>
            <a:ext cx="155448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join_channel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86968" y="4663440"/>
            <a:ext cx="1554480" cy="12801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entra al canal</a:t>
            </a:r>
            <a:endParaRPr lang="en-US" sz="780" dirty="0"/>
          </a:p>
        </p:txBody>
      </p:sp>
      <p:sp>
        <p:nvSpPr>
          <p:cNvPr id="22" name="Shape 20"/>
          <p:cNvSpPr/>
          <p:nvPr/>
        </p:nvSpPr>
        <p:spPr>
          <a:xfrm>
            <a:off x="3044952" y="4315968"/>
            <a:ext cx="1874520" cy="621792"/>
          </a:xfrm>
          <a:prstGeom prst="roundRect">
            <a:avLst>
              <a:gd name="adj" fmla="val 11765"/>
            </a:avLst>
          </a:prstGeom>
          <a:solidFill>
            <a:srgbClr val="101827"/>
          </a:solidFill>
          <a:ln w="12700">
            <a:solidFill>
              <a:srgbClr val="101827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54680" y="4434840"/>
            <a:ext cx="155448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send_message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154680" y="4663440"/>
            <a:ext cx="1554480" cy="12801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guarda y difunde</a:t>
            </a:r>
            <a:endParaRPr lang="en-US" sz="780" dirty="0"/>
          </a:p>
        </p:txBody>
      </p:sp>
      <p:sp>
        <p:nvSpPr>
          <p:cNvPr id="25" name="Shape 23"/>
          <p:cNvSpPr/>
          <p:nvPr/>
        </p:nvSpPr>
        <p:spPr>
          <a:xfrm>
            <a:off x="5312664" y="4315968"/>
            <a:ext cx="1874520" cy="621792"/>
          </a:xfrm>
          <a:prstGeom prst="roundRect">
            <a:avLst>
              <a:gd name="adj" fmla="val 1176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22392" y="4434840"/>
            <a:ext cx="155448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get_users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422392" y="4663440"/>
            <a:ext cx="1554480" cy="12801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lista conectados</a:t>
            </a:r>
            <a:endParaRPr lang="en-US" sz="780" dirty="0"/>
          </a:p>
        </p:txBody>
      </p:sp>
      <p:sp>
        <p:nvSpPr>
          <p:cNvPr id="28" name="Shape 26"/>
          <p:cNvSpPr/>
          <p:nvPr/>
        </p:nvSpPr>
        <p:spPr>
          <a:xfrm>
            <a:off x="7580376" y="4315968"/>
            <a:ext cx="1874520" cy="621792"/>
          </a:xfrm>
          <a:prstGeom prst="roundRect">
            <a:avLst>
              <a:gd name="adj" fmla="val 11765"/>
            </a:avLst>
          </a:prstGeom>
          <a:solidFill>
            <a:srgbClr val="101827"/>
          </a:solidFill>
          <a:ln w="12700">
            <a:solidFill>
              <a:srgbClr val="101827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90104" y="4434840"/>
            <a:ext cx="155448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private_message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7690104" y="4663440"/>
            <a:ext cx="1554480" cy="12801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envio dirigido</a:t>
            </a:r>
            <a:endParaRPr lang="en-US" sz="780" dirty="0"/>
          </a:p>
        </p:txBody>
      </p:sp>
      <p:sp>
        <p:nvSpPr>
          <p:cNvPr id="31" name="Shape 29"/>
          <p:cNvSpPr/>
          <p:nvPr/>
        </p:nvSpPr>
        <p:spPr>
          <a:xfrm>
            <a:off x="9848088" y="4315968"/>
            <a:ext cx="1874520" cy="621792"/>
          </a:xfrm>
          <a:prstGeom prst="roundRect">
            <a:avLst>
              <a:gd name="adj" fmla="val 1176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957816" y="4434840"/>
            <a:ext cx="1554480" cy="1645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disconnect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9957816" y="4663440"/>
            <a:ext cx="1554480" cy="12801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notifica salida</a:t>
            </a:r>
            <a:endParaRPr lang="en-US" sz="780" dirty="0"/>
          </a:p>
        </p:txBody>
      </p:sp>
      <p:sp>
        <p:nvSpPr>
          <p:cNvPr id="34" name="Text 32"/>
          <p:cNvSpPr/>
          <p:nvPr/>
        </p:nvSpPr>
        <p:spPr>
          <a:xfrm>
            <a:off x="868680" y="5989320"/>
            <a:ext cx="603504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servidor mantiene usuarios conectados en memoria con socketId y channelId.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812280" y="5989320"/>
            <a:ext cx="466344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 mensajes publicos se persisten en MongoDB antes de emitirse al canal.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02920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LinkChat | Sistemas Distribuidos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1109960" y="6446520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72033"/>
                </a:solidFill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CFD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0116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8B87A"/>
                </a:solidFill>
              </a:rPr>
              <a:t>PERSISTENCIA</a:t>
            </a:r>
            <a:endParaRPr lang="en-US" sz="880" dirty="0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MongoDB Atlas + Mongoose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280160"/>
            <a:ext cx="2971800" cy="4389120"/>
          </a:xfrm>
          <a:prstGeom prst="roundRect">
            <a:avLst>
              <a:gd name="adj" fmla="val 2462"/>
            </a:avLst>
          </a:prstGeom>
          <a:solidFill>
            <a:srgbClr val="064E3B"/>
          </a:solidFill>
          <a:ln w="12700">
            <a:solidFill>
              <a:srgbClr val="064E3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7552" y="1627632"/>
            <a:ext cx="155448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Colecciones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960120" y="2148840"/>
            <a:ext cx="1920240" cy="292608"/>
          </a:xfrm>
          <a:prstGeom prst="roundRect">
            <a:avLst>
              <a:gd name="adj" fmla="val 25000"/>
            </a:avLst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" y="2212848"/>
            <a:ext cx="1371600" cy="1097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</a:t>
            </a:r>
            <a:endParaRPr lang="en-US" sz="920" dirty="0"/>
          </a:p>
        </p:txBody>
      </p:sp>
      <p:sp>
        <p:nvSpPr>
          <p:cNvPr id="8" name="Shape 6"/>
          <p:cNvSpPr/>
          <p:nvPr/>
        </p:nvSpPr>
        <p:spPr>
          <a:xfrm>
            <a:off x="960120" y="2587752"/>
            <a:ext cx="1920240" cy="292608"/>
          </a:xfrm>
          <a:prstGeom prst="roundRect">
            <a:avLst>
              <a:gd name="adj" fmla="val 25000"/>
            </a:avLst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78992" y="2651760"/>
            <a:ext cx="1371600" cy="1097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servers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960120" y="3026664"/>
            <a:ext cx="1920240" cy="292608"/>
          </a:xfrm>
          <a:prstGeom prst="roundRect">
            <a:avLst>
              <a:gd name="adj" fmla="val 25000"/>
            </a:avLst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78992" y="3090672"/>
            <a:ext cx="1371600" cy="1097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channels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960120" y="3465576"/>
            <a:ext cx="1920240" cy="292608"/>
          </a:xfrm>
          <a:prstGeom prst="roundRect">
            <a:avLst>
              <a:gd name="adj" fmla="val 25000"/>
            </a:avLst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78992" y="3529584"/>
            <a:ext cx="1371600" cy="1097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invitations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960120" y="3904488"/>
            <a:ext cx="1920240" cy="292608"/>
          </a:xfrm>
          <a:prstGeom prst="roundRect">
            <a:avLst>
              <a:gd name="adj" fmla="val 25000"/>
            </a:avLst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8992" y="3968496"/>
            <a:ext cx="1371600" cy="1097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members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960120" y="4343400"/>
            <a:ext cx="1920240" cy="292608"/>
          </a:xfrm>
          <a:prstGeom prst="roundRect">
            <a:avLst>
              <a:gd name="adj" fmla="val 25000"/>
            </a:avLst>
          </a:prstGeom>
          <a:solidFill>
            <a:srgbClr val="F4B740"/>
          </a:solidFill>
          <a:ln w="12700">
            <a:solidFill>
              <a:srgbClr val="F4B740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78992" y="4407408"/>
            <a:ext cx="1371600" cy="1097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messages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4251960" y="1298448"/>
            <a:ext cx="694944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0" y="1664208"/>
            <a:ext cx="228600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Documento Message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4572000" y="2148840"/>
            <a:ext cx="2926080" cy="2331720"/>
          </a:xfrm>
          <a:prstGeom prst="roundRect">
            <a:avLst>
              <a:gd name="adj" fmla="val 3137"/>
            </a:avLst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73168" y="2359152"/>
            <a:ext cx="2514600" cy="1600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username: "German",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channelId: ObjectId,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content: "Hola a todos",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type: "public",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createdAt: Date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955280" y="2313432"/>
            <a:ext cx="109728" cy="109728"/>
          </a:xfrm>
          <a:prstGeom prst="ellipse">
            <a:avLst/>
          </a:prstGeom>
          <a:solidFill>
            <a:srgbClr val="18B87A"/>
          </a:solidFill>
          <a:ln w="12700">
            <a:solidFill>
              <a:srgbClr val="18B87A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56448" y="2240280"/>
            <a:ext cx="4297680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Mongoose define esquemas y validaciones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7955280" y="2907792"/>
            <a:ext cx="109728" cy="109728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56448" y="2834640"/>
            <a:ext cx="4297680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Indice por canal y fecha para historial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7955280" y="3502152"/>
            <a:ext cx="109728" cy="1097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156448" y="3429000"/>
            <a:ext cx="4297680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Persistencia para consultar mensajes</a:t>
            </a:r>
            <a:endParaRPr lang="en-US" sz="1450" dirty="0"/>
          </a:p>
        </p:txBody>
      </p:sp>
      <p:sp>
        <p:nvSpPr>
          <p:cNvPr id="28" name="Shape 26"/>
          <p:cNvSpPr/>
          <p:nvPr/>
        </p:nvSpPr>
        <p:spPr>
          <a:xfrm>
            <a:off x="7955280" y="4096512"/>
            <a:ext cx="109728" cy="10972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156448" y="4023360"/>
            <a:ext cx="4297680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Atlas permite base de datos en la nube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502920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LinkChat | Sistemas Distribuidos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1109960" y="6446520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72033"/>
                </a:solidFill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0116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F4B740"/>
                </a:solidFill>
              </a:rPr>
              <a:t>DESPLIEGUE Y PRUEBAS</a:t>
            </a:r>
            <a:endParaRPr lang="en-US" sz="88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Preparacion para demostrar en internet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868680" y="1508760"/>
            <a:ext cx="237744" cy="237744"/>
          </a:xfrm>
          <a:prstGeom prst="ellipse">
            <a:avLst/>
          </a:prstGeom>
          <a:solidFill>
            <a:srgbClr val="18B87A"/>
          </a:solidFill>
          <a:ln w="12700">
            <a:solidFill>
              <a:srgbClr val="18B87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2688" y="1527048"/>
            <a:ext cx="109728" cy="1097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34440" y="1417320"/>
            <a:ext cx="173736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Backend cloud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880360" y="1453896"/>
            <a:ext cx="274320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BFD0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Render/Railway con npm start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868680" y="2313432"/>
            <a:ext cx="237744" cy="237744"/>
          </a:xfrm>
          <a:prstGeom prst="ellipse">
            <a:avLst/>
          </a:prstGeom>
          <a:solidFill>
            <a:srgbClr val="18B87A"/>
          </a:solidFill>
          <a:ln w="12700">
            <a:solidFill>
              <a:srgbClr val="18B87A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2331720"/>
            <a:ext cx="109728" cy="1097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234440" y="2221992"/>
            <a:ext cx="173736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Variables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880360" y="2258568"/>
            <a:ext cx="274320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BFD0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PORT, MONGO_URI, CLIENT_URL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68680" y="3118104"/>
            <a:ext cx="237744" cy="237744"/>
          </a:xfrm>
          <a:prstGeom prst="ellipse">
            <a:avLst/>
          </a:prstGeom>
          <a:solidFill>
            <a:srgbClr val="18B87A"/>
          </a:solidFill>
          <a:ln w="12700">
            <a:solidFill>
              <a:srgbClr val="18B87A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3136392"/>
            <a:ext cx="109728" cy="1097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234440" y="3026664"/>
            <a:ext cx="173736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880360" y="3063240"/>
            <a:ext cx="274320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BFD0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Health check y endpoints REST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68680" y="3922776"/>
            <a:ext cx="237744" cy="237744"/>
          </a:xfrm>
          <a:prstGeom prst="ellipse">
            <a:avLst/>
          </a:prstGeom>
          <a:solidFill>
            <a:srgbClr val="F4B740"/>
          </a:solidFill>
          <a:ln w="12700">
            <a:solidFill>
              <a:srgbClr val="F4B740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2688" y="3941064"/>
            <a:ext cx="109728" cy="1097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234440" y="3831336"/>
            <a:ext cx="173736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Tiempo real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880360" y="3867912"/>
            <a:ext cx="274320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BFD0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dos clientes Socket.IO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68680" y="4727448"/>
            <a:ext cx="237744" cy="237744"/>
          </a:xfrm>
          <a:prstGeom prst="ellipse">
            <a:avLst/>
          </a:prstGeom>
          <a:solidFill>
            <a:srgbClr val="F4B740"/>
          </a:solidFill>
          <a:ln w="12700">
            <a:solidFill>
              <a:srgbClr val="F4B740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2688" y="4745736"/>
            <a:ext cx="109728" cy="1097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234440" y="4636008"/>
            <a:ext cx="173736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Evidencias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2880360" y="4672584"/>
            <a:ext cx="274320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BFD0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capturas de laptop y celular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629400" y="1234440"/>
            <a:ext cx="4343400" cy="4251960"/>
          </a:xfrm>
          <a:prstGeom prst="roundRect">
            <a:avLst>
              <a:gd name="adj" fmla="val 1720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67728" y="1572768"/>
            <a:ext cx="301752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Pruebas funcionales minimas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7086600" y="2130552"/>
            <a:ext cx="109728" cy="109728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87768" y="2057400"/>
            <a:ext cx="4297680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Varios usuarios conectados</a:t>
            </a:r>
            <a:endParaRPr lang="en-US" sz="1450" dirty="0"/>
          </a:p>
        </p:txBody>
      </p:sp>
      <p:sp>
        <p:nvSpPr>
          <p:cNvPr id="28" name="Shape 26"/>
          <p:cNvSpPr/>
          <p:nvPr/>
        </p:nvSpPr>
        <p:spPr>
          <a:xfrm>
            <a:off x="7086600" y="2560320"/>
            <a:ext cx="109728" cy="109728"/>
          </a:xfrm>
          <a:prstGeom prst="ellipse">
            <a:avLst/>
          </a:prstGeom>
          <a:solidFill>
            <a:srgbClr val="18B87A"/>
          </a:solidFill>
          <a:ln w="12700">
            <a:solidFill>
              <a:srgbClr val="18B87A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287768" y="2487168"/>
            <a:ext cx="4297680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Mensaje publico recibido por todos</a:t>
            </a:r>
            <a:endParaRPr lang="en-US" sz="1450" dirty="0"/>
          </a:p>
        </p:txBody>
      </p:sp>
      <p:sp>
        <p:nvSpPr>
          <p:cNvPr id="30" name="Shape 28"/>
          <p:cNvSpPr/>
          <p:nvPr/>
        </p:nvSpPr>
        <p:spPr>
          <a:xfrm>
            <a:off x="7086600" y="2990088"/>
            <a:ext cx="109728" cy="1097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287768" y="2916936"/>
            <a:ext cx="4297680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/usuarios lista conectados</a:t>
            </a:r>
            <a:endParaRPr lang="en-US" sz="1450" dirty="0"/>
          </a:p>
        </p:txBody>
      </p:sp>
      <p:sp>
        <p:nvSpPr>
          <p:cNvPr id="32" name="Shape 30"/>
          <p:cNvSpPr/>
          <p:nvPr/>
        </p:nvSpPr>
        <p:spPr>
          <a:xfrm>
            <a:off x="7086600" y="3419856"/>
            <a:ext cx="109728" cy="10972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287768" y="3346704"/>
            <a:ext cx="4297680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/privado solo al destinatario</a:t>
            </a:r>
            <a:endParaRPr lang="en-US" sz="1450" dirty="0"/>
          </a:p>
        </p:txBody>
      </p:sp>
      <p:sp>
        <p:nvSpPr>
          <p:cNvPr id="34" name="Shape 32"/>
          <p:cNvSpPr/>
          <p:nvPr/>
        </p:nvSpPr>
        <p:spPr>
          <a:xfrm>
            <a:off x="7086600" y="3849624"/>
            <a:ext cx="109728" cy="109728"/>
          </a:xfrm>
          <a:prstGeom prst="ellipse">
            <a:avLst/>
          </a:prstGeom>
          <a:solidFill>
            <a:srgbClr val="22C1DC"/>
          </a:solidFill>
          <a:ln w="12700">
            <a:solidFill>
              <a:srgbClr val="22C1DC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287768" y="3776472"/>
            <a:ext cx="4297680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Desconexion notificada</a:t>
            </a:r>
            <a:endParaRPr lang="en-US" sz="1450" dirty="0"/>
          </a:p>
        </p:txBody>
      </p:sp>
      <p:sp>
        <p:nvSpPr>
          <p:cNvPr id="36" name="Shape 34"/>
          <p:cNvSpPr/>
          <p:nvPr/>
        </p:nvSpPr>
        <p:spPr>
          <a:xfrm>
            <a:off x="7086600" y="4279392"/>
            <a:ext cx="109728" cy="109728"/>
          </a:xfrm>
          <a:prstGeom prst="ellipse">
            <a:avLst/>
          </a:prstGeom>
          <a:solidFill>
            <a:srgbClr val="F4B740"/>
          </a:solidFill>
          <a:ln w="12700">
            <a:solidFill>
              <a:srgbClr val="F4B740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287768" y="4206240"/>
            <a:ext cx="4297680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Invitacion valida</a:t>
            </a:r>
            <a:endParaRPr lang="en-US" sz="1450" dirty="0"/>
          </a:p>
        </p:txBody>
      </p:sp>
      <p:sp>
        <p:nvSpPr>
          <p:cNvPr id="38" name="Text 36"/>
          <p:cNvSpPr/>
          <p:nvPr/>
        </p:nvSpPr>
        <p:spPr>
          <a:xfrm>
            <a:off x="502920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2D6"/>
                </a:solidFill>
              </a:rPr>
              <a:t>LinkChat | Sistemas Distribuidos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11109960" y="6446520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0116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7C3AED"/>
                </a:solidFill>
              </a:rPr>
              <a:t>CIERRE</a:t>
            </a:r>
            <a:endParaRPr lang="en-US" sz="880" dirty="0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Conclusiones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1371600"/>
            <a:ext cx="384048" cy="384048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17320" y="1325880"/>
            <a:ext cx="192024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Distribucion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417320" y="1636776"/>
            <a:ext cx="384048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cliente, backend y base de datos separados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822960" y="2286000"/>
            <a:ext cx="384048" cy="38404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17320" y="2240280"/>
            <a:ext cx="192024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Tiempo real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417320" y="2551176"/>
            <a:ext cx="384048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eventos Socket.IO para broadcast y privados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22960" y="3200400"/>
            <a:ext cx="384048" cy="384048"/>
          </a:xfrm>
          <a:prstGeom prst="ellipse">
            <a:avLst/>
          </a:prstGeom>
          <a:solidFill>
            <a:srgbClr val="18B87A"/>
          </a:solidFill>
          <a:ln w="12700">
            <a:solidFill>
              <a:srgbClr val="18B87A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17320" y="3154680"/>
            <a:ext cx="192024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Persistencia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417320" y="3465576"/>
            <a:ext cx="384048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MongoDB conserva mensajes y entidades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22960" y="4114800"/>
            <a:ext cx="384048" cy="38404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17320" y="4069080"/>
            <a:ext cx="192024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Cloud ready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417320" y="4379976"/>
            <a:ext cx="384048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backend ejecutable con npm start y variables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583680" y="1051560"/>
            <a:ext cx="4160520" cy="4160520"/>
          </a:xfrm>
          <a:prstGeom prst="roundRect">
            <a:avLst>
              <a:gd name="adj" fmla="val 1758"/>
            </a:avLst>
          </a:prstGeom>
          <a:solidFill>
            <a:srgbClr val="101827"/>
          </a:solidFill>
          <a:ln w="12700">
            <a:solidFill>
              <a:srgbClr val="101827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95160" y="1508760"/>
            <a:ext cx="2194560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Proxima mejora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6995160" y="2148840"/>
            <a:ext cx="3383280" cy="7863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DCE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Integrar y documentar claramente el frontend para completar la experiencia web tipo Discord.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995160" y="3657600"/>
            <a:ext cx="1920240" cy="23774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4B7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Advertencia tecnica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995160" y="4005072"/>
            <a:ext cx="3246120" cy="3840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Frontend no identificado claramente en el repositorio publico revisado.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02920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LinkChat | Sistemas Distribuidos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1109960" y="6446520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72033"/>
                </a:solidFill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Sistemas Distribuidos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LinkChat - Sistemas Distribuidos</dc:title>
  <dc:subject>LinkChat - sistema distribuido de chat en tiempo real</dc:subject>
  <dc:creator>German Panduro - LinkChat</dc:creator>
  <cp:lastModifiedBy>German Panduro - LinkChat</cp:lastModifiedBy>
  <cp:revision>1</cp:revision>
  <dcterms:created xsi:type="dcterms:W3CDTF">2026-06-22T20:57:25Z</dcterms:created>
  <dcterms:modified xsi:type="dcterms:W3CDTF">2026-06-22T20:57:25Z</dcterms:modified>
</cp:coreProperties>
</file>